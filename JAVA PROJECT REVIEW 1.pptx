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IBM Plex Mono" panose="020B0509050203000203" pitchFamily="49" charset="0"/>
      <p:regular r:id="rId14"/>
    </p:embeddedFont>
    <p:embeddedFont>
      <p:font typeface="IBM Plex Mono Medium" panose="020B0609050203000203" pitchFamily="49" charset="0"/>
      <p:regular r:id="rId15"/>
    </p:embeddedFont>
    <p:embeddedFont>
      <p:font typeface="IBM Plex Mono SemiBold" panose="020B0709050203000203" pitchFamily="49" charset="0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19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141A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409178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MULTI-ROBOT COORDINATION MONITORING SYSTEM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434578"/>
            <a:ext cx="12140896" cy="5763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815578"/>
            <a:ext cx="1165830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MULTI-ROBOT COORDINATION MONITORING SYSTEM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7987" y="1093391"/>
            <a:ext cx="1117572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200" kern="100" spc="-328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MULTI-ROBOT</a:t>
            </a:r>
            <a:endParaRPr lang="en-US" sz="8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8200" kern="100" spc="-328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COORDINATION</a:t>
            </a:r>
            <a:endParaRPr lang="en-US" sz="8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8200" kern="100" spc="-328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MONITORING SYSTEM</a:t>
            </a:r>
            <a:endParaRPr lang="en-US" sz="8200" dirty="0"/>
          </a:p>
        </p:txBody>
      </p:sp>
      <p:sp>
        <p:nvSpPr>
          <p:cNvPr id="7" name="Text 4"/>
          <p:cNvSpPr/>
          <p:nvPr/>
        </p:nvSpPr>
        <p:spPr>
          <a:xfrm>
            <a:off x="507987" y="4414441"/>
            <a:ext cx="11658308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+ JDBC + MySQL + Java Streams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07987" y="4873030"/>
            <a:ext cx="5435464" cy="943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M. Mithun Madhuban-ROLE: DATABASE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Nikitha B.-ROLE:PROGRAMMING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Divya D.ROLE:UI DESIGN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48244" y="4873030"/>
            <a:ext cx="5435464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Faculty Name:MALATHY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Subject: JAVA PROGRAMMING LAB</a:t>
            </a:r>
            <a:endParaRPr lang="en-US" sz="16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6197997"/>
            <a:ext cx="12140896" cy="64650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6693" y="6312297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+ JDBC + MySQL + Java Streams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680641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254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 / PROJECT OVERVIEW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706041"/>
            <a:ext cx="12140896" cy="5332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985441"/>
            <a:ext cx="11429714" cy="165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INTRODUCTION / PROJECT OVERVIEW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380990" y="2840236"/>
            <a:ext cx="11429714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 centralized Java-based desktop application that provides a single dashboard for monitoring and managing multiple robots.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3554214"/>
            <a:ext cx="5562461" cy="1192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5136" y="3738364"/>
            <a:ext cx="51941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850"/>
              </a:spcAft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ROBOT ID</a:t>
            </a:r>
            <a:endParaRPr lang="en-US" sz="1250" dirty="0"/>
          </a:p>
          <a:p>
            <a:pPr marL="0" indent="0" algn="l">
              <a:lnSpc>
                <a:spcPct val="104000"/>
              </a:lnSpc>
              <a:spcAft>
                <a:spcPts val="850"/>
              </a:spcAft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ROBOT NAME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LOCATION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244" y="3554214"/>
            <a:ext cx="5562461" cy="11922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2389" y="3738364"/>
            <a:ext cx="5194170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spcAft>
                <a:spcPts val="850"/>
              </a:spcAft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STATUS</a:t>
            </a:r>
            <a:endParaRPr lang="en-US" sz="1250" dirty="0"/>
          </a:p>
          <a:p>
            <a:pPr marL="0" indent="0" algn="l">
              <a:lnSpc>
                <a:spcPct val="104000"/>
              </a:lnSpc>
              <a:spcAft>
                <a:spcPts val="850"/>
              </a:spcAft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BATTERY LEVEL</a:t>
            </a:r>
            <a:endParaRPr lang="en-US" sz="125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ASSIGNED TASK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380990" y="5478165"/>
            <a:ext cx="11785305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&gt; The application helps an operator manage multiple robots efficiently._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99" y="6038354"/>
            <a:ext cx="12140896" cy="7942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6693" y="6152654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INTRODUCTION / PROJECT OVERVIEW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680641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STATEMENT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706041"/>
            <a:ext cx="12140896" cy="49919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1061641"/>
            <a:ext cx="11277318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PROBLEM STATEMENT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457189" y="2087463"/>
            <a:ext cx="1127731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Managing multiple robots individually can make monitoring, task assignment and status tracking difficult.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57189" y="2801441"/>
            <a:ext cx="5486263" cy="182304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66733" y="2960191"/>
            <a:ext cx="5067173" cy="943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Difficulty monitoring many robots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centralized information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Difficult status tracking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6248244" y="2801441"/>
            <a:ext cx="5486263" cy="182304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457788" y="2960191"/>
            <a:ext cx="5067173" cy="1505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Difficult task management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Difficult searching and sorting of robot data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Manual management can become inefficient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57189" y="4780855"/>
            <a:ext cx="1127731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proposed centralized monitoring system provides one dashboard where the operator can manage and monitor multiple robots.</a:t>
            </a:r>
            <a:endParaRPr lang="en-US" sz="16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698034"/>
            <a:ext cx="12140896" cy="11345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693" y="5812334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PROBLEM STATEMENT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572591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AIM AND OBJECTIVES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597991"/>
            <a:ext cx="12140896" cy="52801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390" y="877391"/>
            <a:ext cx="11378915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AIM AND OBJECTIVES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406390" y="1903214"/>
            <a:ext cx="11378915" cy="967978"/>
          </a:xfrm>
          <a:prstGeom prst="rect">
            <a:avLst/>
          </a:prstGeom>
          <a:solidFill>
            <a:srgbClr val="39FF6A"/>
          </a:solidFill>
          <a:ln w="12700">
            <a:solidFill>
              <a:srgbClr val="39FF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660383" y="2106414"/>
            <a:ext cx="1087092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AIM: To develop a centralized Java-based system for monitoring, managing and coordinating multiple robots efficiently.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06390" y="3175992"/>
            <a:ext cx="5537061" cy="2422723"/>
          </a:xfrm>
          <a:prstGeom prst="rect">
            <a:avLst/>
          </a:prstGeom>
          <a:noFill/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84185" y="3302992"/>
            <a:ext cx="5181470" cy="1607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Centralized robot management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Monitor robot status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Track robot location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Monitor battery level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Assign and manage tasks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248244" y="3175992"/>
            <a:ext cx="5537061" cy="2422723"/>
          </a:xfrm>
          <a:prstGeom prst="rect">
            <a:avLst/>
          </a:prstGeom>
          <a:noFill/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26039" y="3302992"/>
            <a:ext cx="5181470" cy="2168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Implement CRUD operations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Store data using MySQL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Connect Java with MySQL using JDBC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 Java Streams for filtering and sorting</a:t>
            </a:r>
            <a:endParaRPr lang="en-US" sz="1650" dirty="0"/>
          </a:p>
          <a:p>
            <a:pPr marL="335280" indent="-335280" algn="l">
              <a:lnSpc>
                <a:spcPct val="112000"/>
              </a:lnSpc>
              <a:buSzPct val="100000"/>
              <a:buChar char="•"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Provide a user-friendly JavaFX interface</a:t>
            </a:r>
            <a:endParaRPr lang="en-US" sz="16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878116"/>
            <a:ext cx="12140896" cy="9544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6693" y="5992416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AIM AND OBJECTIVES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409575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FEATURES / MODULES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434975"/>
            <a:ext cx="12140896" cy="591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612775"/>
            <a:ext cx="11429714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KEY FEATURES / MODULES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80990" y="1685528"/>
            <a:ext cx="5562461" cy="1293416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1685528"/>
            <a:ext cx="5562461" cy="12934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0535" y="1895078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ROBOT MANAGEMENT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90535" y="2207816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 Management: Add, view, update and delete robots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1685528"/>
            <a:ext cx="5562461" cy="12934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57788" y="1895078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ROBOT MONITORING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457788" y="2207816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 Monitoring: Monitor status, location and battery level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0" y="3283645"/>
            <a:ext cx="5562461" cy="12936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90535" y="3493195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TASK MANAGEMENT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590535" y="3805932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 Management: Assign and manage tasks for robots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3283645"/>
            <a:ext cx="5562461" cy="12936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57788" y="3493195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JAVAFX GUI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6457788" y="3805932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GUI: Provides the user interface and TableView</a:t>
            </a:r>
            <a:endParaRPr lang="en-US" sz="16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0" y="4881959"/>
            <a:ext cx="5562461" cy="129341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90535" y="5091509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JDBC &amp; DATABASE</a:t>
            </a:r>
            <a:endParaRPr lang="en-US" sz="1250" dirty="0"/>
          </a:p>
        </p:txBody>
      </p:sp>
      <p:sp>
        <p:nvSpPr>
          <p:cNvPr id="21" name="Text 13"/>
          <p:cNvSpPr/>
          <p:nvPr/>
        </p:nvSpPr>
        <p:spPr>
          <a:xfrm>
            <a:off x="590535" y="5404247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JDBC &amp; Database: Connects Java application with MySQL</a:t>
            </a:r>
            <a:endParaRPr lang="en-US" sz="16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4881959"/>
            <a:ext cx="5562461" cy="129341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457788" y="5091509"/>
            <a:ext cx="535291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100" spc="1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 STREAMS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6457788" y="5404247"/>
            <a:ext cx="5143371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 Streams: Used for filtering, sorting and processing robot data</a:t>
            </a:r>
            <a:endParaRPr lang="en-US" sz="165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9" y="6353175"/>
            <a:ext cx="12140896" cy="47942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266693" y="6467475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FEATURES / MODULES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409575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ARCHITECTURE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434975"/>
            <a:ext cx="12140896" cy="58686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390" y="714375"/>
            <a:ext cx="11378915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SYSTEM ARCHITECTURE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406390" y="3095923"/>
            <a:ext cx="11378915" cy="28575"/>
          </a:xfrm>
          <a:prstGeom prst="roundRect">
            <a:avLst>
              <a:gd name="adj" fmla="val 39999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2201212" y="2467273"/>
            <a:ext cx="28574" cy="628650"/>
          </a:xfrm>
          <a:prstGeom prst="roundRect">
            <a:avLst>
              <a:gd name="adj" fmla="val 40000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5"/>
          <p:cNvSpPr/>
          <p:nvPr/>
        </p:nvSpPr>
        <p:spPr>
          <a:xfrm>
            <a:off x="2136920" y="3017341"/>
            <a:ext cx="157159" cy="157163"/>
          </a:xfrm>
          <a:prstGeom prst="ellips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406390" y="1721148"/>
            <a:ext cx="3618318" cy="746125"/>
          </a:xfrm>
          <a:prstGeom prst="roundRect">
            <a:avLst>
              <a:gd name="adj" fmla="val 1532"/>
            </a:avLst>
          </a:prstGeom>
          <a:solidFill>
            <a:srgbClr val="222725"/>
          </a:solidFill>
          <a:ln w="12700">
            <a:solidFill>
              <a:srgbClr val="3B403E"/>
            </a:solidFill>
            <a:prstDash val="solid"/>
          </a:ln>
          <a:effectLst>
            <a:outerShdw blurRad="127" dist="26670" dir="2700000" algn="bl" rotWithShape="0">
              <a:srgbClr val="3B403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28585" y="1943398"/>
            <a:ext cx="31738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100" spc="-47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USER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141287" y="3095923"/>
            <a:ext cx="28574" cy="628650"/>
          </a:xfrm>
          <a:prstGeom prst="roundRect">
            <a:avLst>
              <a:gd name="adj" fmla="val 40000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076995" y="3017341"/>
            <a:ext cx="157159" cy="157163"/>
          </a:xfrm>
          <a:prstGeom prst="ellips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2346465" y="3724573"/>
            <a:ext cx="3618318" cy="746125"/>
          </a:xfrm>
          <a:prstGeom prst="roundRect">
            <a:avLst>
              <a:gd name="adj" fmla="val 1532"/>
            </a:avLst>
          </a:prstGeom>
          <a:solidFill>
            <a:srgbClr val="222725"/>
          </a:solidFill>
          <a:ln w="12700">
            <a:solidFill>
              <a:srgbClr val="3B403E"/>
            </a:solidFill>
            <a:prstDash val="solid"/>
          </a:ln>
          <a:effectLst>
            <a:outerShdw blurRad="127" dist="26670" dir="2700000" algn="bl" rotWithShape="0">
              <a:srgbClr val="3B403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2568660" y="3946823"/>
            <a:ext cx="31738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100" spc="-47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JAVAFX GUI</a:t>
            </a:r>
            <a:endParaRPr lang="en-US" sz="1900" dirty="0"/>
          </a:p>
        </p:txBody>
      </p:sp>
      <p:sp>
        <p:nvSpPr>
          <p:cNvPr id="15" name="Shape 12"/>
          <p:cNvSpPr/>
          <p:nvPr/>
        </p:nvSpPr>
        <p:spPr>
          <a:xfrm>
            <a:off x="6081461" y="2467273"/>
            <a:ext cx="28574" cy="628650"/>
          </a:xfrm>
          <a:prstGeom prst="roundRect">
            <a:avLst>
              <a:gd name="adj" fmla="val 40000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017169" y="3017341"/>
            <a:ext cx="157159" cy="157163"/>
          </a:xfrm>
          <a:prstGeom prst="ellips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4286639" y="1721148"/>
            <a:ext cx="3618318" cy="746125"/>
          </a:xfrm>
          <a:prstGeom prst="roundRect">
            <a:avLst>
              <a:gd name="adj" fmla="val 1532"/>
            </a:avLst>
          </a:prstGeom>
          <a:solidFill>
            <a:srgbClr val="222725"/>
          </a:solidFill>
          <a:ln w="12700">
            <a:solidFill>
              <a:srgbClr val="3B403E"/>
            </a:solidFill>
            <a:prstDash val="solid"/>
          </a:ln>
          <a:effectLst>
            <a:outerShdw blurRad="127" dist="26670" dir="2700000" algn="bl" rotWithShape="0">
              <a:srgbClr val="3B403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4508834" y="1943398"/>
            <a:ext cx="31738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100" spc="-47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 APPLICATION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021635" y="3095923"/>
            <a:ext cx="28574" cy="628650"/>
          </a:xfrm>
          <a:prstGeom prst="roundRect">
            <a:avLst>
              <a:gd name="adj" fmla="val 40000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7957343" y="3017341"/>
            <a:ext cx="157159" cy="157163"/>
          </a:xfrm>
          <a:prstGeom prst="ellips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226714" y="3724573"/>
            <a:ext cx="3618417" cy="746125"/>
          </a:xfrm>
          <a:prstGeom prst="roundRect">
            <a:avLst>
              <a:gd name="adj" fmla="val 1532"/>
            </a:avLst>
          </a:prstGeom>
          <a:solidFill>
            <a:srgbClr val="222725"/>
          </a:solidFill>
          <a:ln w="12700">
            <a:solidFill>
              <a:srgbClr val="3B403E"/>
            </a:solidFill>
            <a:prstDash val="solid"/>
          </a:ln>
          <a:effectLst>
            <a:outerShdw blurRad="127" dist="26670" dir="2700000" algn="bl" rotWithShape="0">
              <a:srgbClr val="3B403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448958" y="3946823"/>
            <a:ext cx="3173928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100" spc="-47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JDBC</a:t>
            </a:r>
            <a:endParaRPr lang="en-US" sz="1900" dirty="0"/>
          </a:p>
        </p:txBody>
      </p:sp>
      <p:sp>
        <p:nvSpPr>
          <p:cNvPr id="23" name="Shape 20"/>
          <p:cNvSpPr/>
          <p:nvPr/>
        </p:nvSpPr>
        <p:spPr>
          <a:xfrm>
            <a:off x="9961710" y="2467273"/>
            <a:ext cx="28574" cy="628650"/>
          </a:xfrm>
          <a:prstGeom prst="roundRect">
            <a:avLst>
              <a:gd name="adj" fmla="val 40000"/>
            </a:avLst>
          </a:prstGeom>
          <a:solidFill>
            <a:srgbClr val="3B403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9897418" y="3017341"/>
            <a:ext cx="157159" cy="157163"/>
          </a:xfrm>
          <a:prstGeom prst="ellipse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2"/>
          <p:cNvSpPr/>
          <p:nvPr/>
        </p:nvSpPr>
        <p:spPr>
          <a:xfrm>
            <a:off x="8166888" y="1721148"/>
            <a:ext cx="3618318" cy="746125"/>
          </a:xfrm>
          <a:prstGeom prst="roundRect">
            <a:avLst>
              <a:gd name="adj" fmla="val 1532"/>
            </a:avLst>
          </a:prstGeom>
          <a:solidFill>
            <a:srgbClr val="222725"/>
          </a:solidFill>
          <a:ln w="12700">
            <a:solidFill>
              <a:srgbClr val="3B403E"/>
            </a:solidFill>
            <a:prstDash val="solid"/>
          </a:ln>
          <a:effectLst>
            <a:outerShdw blurRad="127" dist="26670" dir="2700000" algn="bl" rotWithShape="0">
              <a:srgbClr val="3B403E">
                <a:alpha val="10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8389083" y="1943398"/>
            <a:ext cx="317382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kern="100" spc="-47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MYSQL DATABASE</a:t>
            </a:r>
            <a:endParaRPr lang="en-US" sz="1900" dirty="0"/>
          </a:p>
        </p:txBody>
      </p:sp>
      <p:sp>
        <p:nvSpPr>
          <p:cNvPr id="27" name="Shape 24"/>
          <p:cNvSpPr/>
          <p:nvPr/>
        </p:nvSpPr>
        <p:spPr>
          <a:xfrm>
            <a:off x="406390" y="4648498"/>
            <a:ext cx="11378915" cy="395089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463538" y="4705648"/>
            <a:ext cx="11321767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 Application → Java Streams → Filter / Sort / Process Robot Data → JavaFX TableView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406390" y="5348387"/>
            <a:ext cx="11378915" cy="675878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7"/>
          <p:cNvSpPr/>
          <p:nvPr/>
        </p:nvSpPr>
        <p:spPr>
          <a:xfrm>
            <a:off x="463538" y="5405537"/>
            <a:ext cx="1126461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→ Java → JDBC → MySQL. Do not introduce cloud architecture or unnecessary technologies.</a:t>
            </a:r>
            <a:endParaRPr lang="en-US" sz="1650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6303665"/>
            <a:ext cx="12140896" cy="528935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266693" y="6417965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 ARCHITECTURE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602952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CRUD OPERATIONS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628352"/>
            <a:ext cx="12140896" cy="5199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06390" y="907752"/>
            <a:ext cx="11378915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CRUD OPERATIONS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406390" y="1933575"/>
            <a:ext cx="2616135" cy="265489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90535" y="211772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01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12740" y="2411115"/>
            <a:ext cx="2603336" cy="19050"/>
          </a:xfrm>
          <a:prstGeom prst="rect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590535" y="2555875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CREATE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90535" y="3000375"/>
            <a:ext cx="2247844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CREATE: Add/Register a new robot.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3327317" y="1933575"/>
            <a:ext cx="2616135" cy="265489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511462" y="211772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3333667" y="2411115"/>
            <a:ext cx="2603336" cy="19050"/>
          </a:xfrm>
          <a:prstGeom prst="rect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511462" y="2555875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511462" y="3000375"/>
            <a:ext cx="2247844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READ: View robot information from MySQL.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6248244" y="1933575"/>
            <a:ext cx="2616135" cy="265489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32389" y="211772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254594" y="2411115"/>
            <a:ext cx="2603336" cy="19050"/>
          </a:xfrm>
          <a:prstGeom prst="rect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6432389" y="2555875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UPDATE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432389" y="3000375"/>
            <a:ext cx="2247844" cy="140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UPDATE: Update robot details, status, location or battery information.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9169171" y="1933575"/>
            <a:ext cx="2616135" cy="2654895"/>
          </a:xfrm>
          <a:prstGeom prst="rect">
            <a:avLst/>
          </a:prstGeom>
          <a:noFill/>
          <a:ln w="6350">
            <a:solidFill>
              <a:srgbClr val="2E6D3F"/>
            </a:solidFill>
            <a:prstDash val="solid"/>
          </a:ln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353316" y="2117725"/>
            <a:ext cx="86109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5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04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9175520" y="2411115"/>
            <a:ext cx="2603336" cy="19050"/>
          </a:xfrm>
          <a:prstGeom prst="rect">
            <a:avLst/>
          </a:prstGeom>
          <a:solidFill>
            <a:srgbClr val="39F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9353316" y="2555875"/>
            <a:ext cx="2247844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DELETE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9353316" y="3000375"/>
            <a:ext cx="2247844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DELETE: Delete a robot record.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406390" y="4766270"/>
            <a:ext cx="1175990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39FF6A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CREATE → READ → UPDATE → DELETE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406390" y="5267325"/>
            <a:ext cx="11759906" cy="28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JDBC is used to send database operations between Java and MySQL.</a:t>
            </a:r>
            <a:endParaRPr lang="en-US" sz="16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827514"/>
            <a:ext cx="12140896" cy="1005086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66693" y="5941814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CRUD OPERATIONS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355600"/>
            <a:ext cx="11175720" cy="6146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8978" y="660400"/>
            <a:ext cx="10413739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6AA97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DATABASE DESIGN / ER DIAGRAM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888978" y="1355725"/>
            <a:ext cx="10413739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DATABASE DESIGN / ER DIAGRAM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88978" y="2044799"/>
            <a:ext cx="4274733" cy="3199209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978" y="2044799"/>
            <a:ext cx="4274733" cy="3199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8523" y="2254349"/>
            <a:ext cx="385564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ROBOT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98523" y="2778224"/>
            <a:ext cx="3855643" cy="22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robot_id (PK)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robot_name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robot_type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location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status</a:t>
            </a:r>
            <a:endParaRPr lang="en-US" sz="16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battery_level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6023420" y="3482777"/>
            <a:ext cx="547475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90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→</a:t>
            </a:r>
            <a:endParaRPr lang="en-US" sz="1900" dirty="0"/>
          </a:p>
        </p:txBody>
      </p:sp>
      <p:sp>
        <p:nvSpPr>
          <p:cNvPr id="10" name="Shape 6"/>
          <p:cNvSpPr/>
          <p:nvPr/>
        </p:nvSpPr>
        <p:spPr>
          <a:xfrm>
            <a:off x="7027984" y="2044799"/>
            <a:ext cx="4274733" cy="3199209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7984" y="2044799"/>
            <a:ext cx="4274733" cy="31992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37529" y="2254349"/>
            <a:ext cx="385564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TASK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7237529" y="2778224"/>
            <a:ext cx="3855643" cy="2256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task_id (PK)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task_name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description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priority</a:t>
            </a:r>
            <a:endParaRPr lang="en-US" sz="1650" dirty="0"/>
          </a:p>
          <a:p>
            <a:pPr marL="0" indent="0" algn="l">
              <a:lnSpc>
                <a:spcPct val="112000"/>
              </a:lnSpc>
              <a:spcAft>
                <a:spcPts val="850"/>
              </a:spcAft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task_status</a:t>
            </a:r>
            <a:endParaRPr lang="en-US" sz="16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robot_id (FK)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88978" y="5421809"/>
            <a:ext cx="10413739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Relationship: ROBOT manages assigned TASK records through robot_id. PK = Primary Key. FK = Foreign Key.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440333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USER INTERFACE / PROTOTYPE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465733"/>
            <a:ext cx="12140896" cy="56329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0192" y="694333"/>
            <a:ext cx="11531312" cy="165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JAVAFX USER INTERFACE / PROTOTYPE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30192" y="2596059"/>
            <a:ext cx="4490628" cy="3274020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192" y="2596059"/>
            <a:ext cx="4490628" cy="32740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4337" y="2780209"/>
            <a:ext cx="4122337" cy="1403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Realistic JavaFX desktop application interface with input fields for Robot ID, Robot Name, Robot Type, Location, Status and Battery Level.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14337" y="4674890"/>
            <a:ext cx="583292" cy="335161"/>
          </a:xfrm>
          <a:prstGeom prst="rect">
            <a:avLst/>
          </a:prstGeom>
          <a:solidFill>
            <a:srgbClr val="004D1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6"/>
          <p:cNvSpPr/>
          <p:nvPr/>
        </p:nvSpPr>
        <p:spPr>
          <a:xfrm>
            <a:off x="640044" y="4737695"/>
            <a:ext cx="94146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ADD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1202402" y="4674890"/>
            <a:ext cx="915072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8"/>
          <p:cNvSpPr/>
          <p:nvPr/>
        </p:nvSpPr>
        <p:spPr>
          <a:xfrm>
            <a:off x="1328109" y="4737695"/>
            <a:ext cx="12732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UPDATE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222246" y="4674890"/>
            <a:ext cx="915072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0"/>
          <p:cNvSpPr/>
          <p:nvPr/>
        </p:nvSpPr>
        <p:spPr>
          <a:xfrm>
            <a:off x="2347953" y="4737695"/>
            <a:ext cx="1273242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DELETE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42090" y="4674890"/>
            <a:ext cx="804446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3367797" y="4737695"/>
            <a:ext cx="116261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100" spc="79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CLEAR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4337" y="5124351"/>
            <a:ext cx="4122337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Search/filter option and TableView.</a:t>
            </a:r>
            <a:endParaRPr lang="en-US" sz="1650" dirty="0"/>
          </a:p>
        </p:txBody>
      </p:sp>
      <p:sp>
        <p:nvSpPr>
          <p:cNvPr id="18" name="Shape 14"/>
          <p:cNvSpPr/>
          <p:nvPr/>
        </p:nvSpPr>
        <p:spPr>
          <a:xfrm>
            <a:off x="5125512" y="2596059"/>
            <a:ext cx="6735991" cy="3274020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512" y="2596059"/>
            <a:ext cx="6735991" cy="32740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84258" y="2754809"/>
            <a:ext cx="6418499" cy="358775"/>
          </a:xfrm>
          <a:prstGeom prst="rect">
            <a:avLst/>
          </a:prstGeom>
          <a:noFill/>
          <a:ln/>
        </p:spPr>
        <p:txBody>
          <a:bodyPr wrap="square" lIns="101598" tIns="63498" rIns="101598" bIns="63498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100" spc="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TableView</a:t>
            </a:r>
            <a:endParaRPr lang="en-US" sz="12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84258" y="3227884"/>
          <a:ext cx="6418499" cy="2457983"/>
        </p:xfrm>
        <a:graphic>
          <a:graphicData uri="http://schemas.openxmlformats.org/drawingml/2006/table">
            <a:tbl>
              <a:tblPr/>
              <a:tblGrid>
                <a:gridCol w="1034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48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74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8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ROBOT ID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ROBOT NAME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LOCATION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STATUS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BATTERY LEVEL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R001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Robo-1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Zone A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Available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90%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R002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Robo-2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Zone B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Busy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65%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R003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Robo-3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Zone C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Charging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30%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E6D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9" y="6098679"/>
            <a:ext cx="12140896" cy="7339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66693" y="6212979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 USER INTERFACE / PROTOTYPE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525661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253994" y="127000"/>
            <a:ext cx="119123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TECHNOLOGY INTEGRATION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551061"/>
            <a:ext cx="12140896" cy="54054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80990" y="830461"/>
            <a:ext cx="11429714" cy="828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6400" kern="100" spc="-160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TECHNOLOGY INTEGRATION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380990" y="1903214"/>
            <a:ext cx="3657509" cy="1734542"/>
          </a:xfrm>
          <a:prstGeom prst="rect">
            <a:avLst/>
          </a:prstGeom>
          <a:solidFill>
            <a:srgbClr val="020604"/>
          </a:solidFill>
          <a:ln/>
          <a:effectLst>
            <a:outerShdw blurRad="201930" dist="127" dir="16200000" algn="bl" rotWithShape="0">
              <a:srgbClr val="33FF66">
                <a:alpha val="1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0" y="1903214"/>
            <a:ext cx="3657509" cy="17345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5136" y="2087364"/>
            <a:ext cx="32892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JAVA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565136" y="2611239"/>
            <a:ext cx="3289218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JAVA: Core programming language and application logic.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91" y="1903214"/>
            <a:ext cx="3555911" cy="17345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27437" y="2087364"/>
            <a:ext cx="318762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JAVAFX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4527437" y="2611239"/>
            <a:ext cx="3187620" cy="8423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JAVAFX: Used to create the graphical user interface.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995" y="1903214"/>
            <a:ext cx="3606710" cy="17345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88140" y="2087364"/>
            <a:ext cx="323841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JDBC</a:t>
            </a:r>
            <a:endParaRPr lang="en-US" sz="2400" dirty="0"/>
          </a:p>
        </p:txBody>
      </p:sp>
      <p:sp>
        <p:nvSpPr>
          <p:cNvPr id="15" name="Text 9"/>
          <p:cNvSpPr/>
          <p:nvPr/>
        </p:nvSpPr>
        <p:spPr>
          <a:xfrm>
            <a:off x="8388140" y="2611239"/>
            <a:ext cx="3238419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JDBC: Connects the Java application to MySQL.</a:t>
            </a:r>
            <a:endParaRPr lang="en-US" sz="16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0990" y="3942556"/>
            <a:ext cx="3657509" cy="173454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65136" y="4126706"/>
            <a:ext cx="328921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MYSQL</a:t>
            </a:r>
            <a:endParaRPr lang="en-US" sz="2400" dirty="0"/>
          </a:p>
        </p:txBody>
      </p:sp>
      <p:sp>
        <p:nvSpPr>
          <p:cNvPr id="18" name="Text 11"/>
          <p:cNvSpPr/>
          <p:nvPr/>
        </p:nvSpPr>
        <p:spPr>
          <a:xfrm>
            <a:off x="565136" y="4650581"/>
            <a:ext cx="3289218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MYSQL: Stores robot and task information.</a:t>
            </a:r>
            <a:endParaRPr lang="en-US" sz="16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291" y="3942556"/>
            <a:ext cx="7467413" cy="17345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27437" y="4126706"/>
            <a:ext cx="70991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B8F7C2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JAVA STREAMS</a:t>
            </a:r>
            <a:endParaRPr lang="en-US" sz="2400" dirty="0"/>
          </a:p>
        </p:txBody>
      </p:sp>
      <p:sp>
        <p:nvSpPr>
          <p:cNvPr id="21" name="Text 13"/>
          <p:cNvSpPr/>
          <p:nvPr/>
        </p:nvSpPr>
        <p:spPr>
          <a:xfrm>
            <a:off x="4527437" y="4650581"/>
            <a:ext cx="7099122" cy="5615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50" dirty="0">
                <a:solidFill>
                  <a:srgbClr val="B8F7C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JAVA STREAMS: Used for filtering, sorting and processing robot data.</a:t>
            </a:r>
            <a:endParaRPr lang="en-US" sz="16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99" y="5956498"/>
            <a:ext cx="12140896" cy="87610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266693" y="6070798"/>
            <a:ext cx="11899602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TECHNOLOGY INTEGRATION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399" y="25400"/>
            <a:ext cx="12140896" cy="568325"/>
          </a:xfrm>
          <a:prstGeom prst="rect">
            <a:avLst/>
          </a:prstGeom>
          <a:solidFill>
            <a:srgbClr val="17231C"/>
          </a:solidFill>
          <a:ln w="6350">
            <a:solidFill>
              <a:srgbClr val="2E6D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25399" y="593725"/>
            <a:ext cx="12140896" cy="5086648"/>
          </a:xfrm>
          <a:prstGeom prst="rect">
            <a:avLst/>
          </a:prstGeom>
          <a:solidFill>
            <a:srgbClr val="07110C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" y="593725"/>
            <a:ext cx="9307974" cy="51011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343" y="803275"/>
            <a:ext cx="8838086" cy="360561"/>
          </a:xfrm>
          <a:prstGeom prst="roundRect">
            <a:avLst>
              <a:gd name="adj" fmla="val 3170"/>
            </a:avLst>
          </a:prstGeom>
          <a:noFill/>
          <a:ln w="12700">
            <a:solidFill>
              <a:srgbClr val="2E6D3F"/>
            </a:solidFill>
            <a:prstDash val="solid"/>
          </a:ln>
          <a:effectLst>
            <a:outerShdw blurRad="127" dist="49530" dir="16200000" algn="bl" rotWithShape="0">
              <a:srgbClr val="2E6D3F">
                <a:alpha val="6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273043" y="815975"/>
            <a:ext cx="251414" cy="335161"/>
          </a:xfrm>
          <a:prstGeom prst="rect">
            <a:avLst/>
          </a:prstGeom>
          <a:solidFill>
            <a:srgbClr val="004D13"/>
          </a:solidFill>
          <a:ln w="12700">
            <a:solidFill>
              <a:srgbClr val="39FF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29230" y="815975"/>
            <a:ext cx="251414" cy="335161"/>
          </a:xfrm>
          <a:prstGeom prst="rect">
            <a:avLst/>
          </a:prstGeom>
          <a:noFill/>
          <a:ln w="6350">
            <a:solidFill>
              <a:srgbClr val="B8F7C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260343" y="1243211"/>
            <a:ext cx="8838086" cy="492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800" kern="100" spc="-95" dirty="0">
                <a:solidFill>
                  <a:srgbClr val="B8F7C2"/>
                </a:solidFill>
                <a:latin typeface="IBM Plex Mono SemiBold" pitchFamily="34" charset="0"/>
                <a:ea typeface="IBM Plex Mono SemiBold" pitchFamily="34" charset="-122"/>
                <a:cs typeface="IBM Plex Mono SemiBold" pitchFamily="34" charset="-120"/>
              </a:rPr>
              <a:t>INDIVIDUAL MEMBER CONTRIBUTION</a:t>
            </a:r>
            <a:endParaRPr lang="en-US" sz="3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0343" y="1932285"/>
          <a:ext cx="8838086" cy="3552933"/>
        </p:xfrm>
        <a:graphic>
          <a:graphicData uri="http://schemas.openxmlformats.org/drawingml/2006/table">
            <a:tbl>
              <a:tblPr/>
              <a:tblGrid>
                <a:gridCol w="1444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86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46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82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M.MITHUN MADHUBAN 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ROLE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kern="100" spc="132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BACKEND,DATABASE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DIVYA 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ROLE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UI DESIGN,FRONTEND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NIKITHA B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ROLE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B8F7C2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CODING</a:t>
                      </a: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4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7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50" dirty="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52396" marR="152396" marT="126997" marB="126997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71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60343" y="2747843"/>
            <a:ext cx="8838086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7"/>
          <p:cNvSpPr/>
          <p:nvPr/>
        </p:nvSpPr>
        <p:spPr>
          <a:xfrm>
            <a:off x="260343" y="3295318"/>
            <a:ext cx="8838086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8"/>
          <p:cNvSpPr/>
          <p:nvPr/>
        </p:nvSpPr>
        <p:spPr>
          <a:xfrm>
            <a:off x="260343" y="3842794"/>
            <a:ext cx="8838086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9"/>
          <p:cNvSpPr/>
          <p:nvPr/>
        </p:nvSpPr>
        <p:spPr>
          <a:xfrm>
            <a:off x="260343" y="4390269"/>
            <a:ext cx="8838086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0"/>
          <p:cNvSpPr/>
          <p:nvPr/>
        </p:nvSpPr>
        <p:spPr>
          <a:xfrm>
            <a:off x="260343" y="4937744"/>
            <a:ext cx="8838086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1"/>
          <p:cNvSpPr/>
          <p:nvPr/>
        </p:nvSpPr>
        <p:spPr>
          <a:xfrm>
            <a:off x="9333374" y="593725"/>
            <a:ext cx="2832922" cy="5101134"/>
          </a:xfrm>
          <a:prstGeom prst="rect">
            <a:avLst/>
          </a:prstGeom>
          <a:solidFill>
            <a:srgbClr val="17231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12140896" y="593725"/>
            <a:ext cx="25399" cy="5101134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99" y="5680373"/>
            <a:ext cx="12140896" cy="116463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9327024" y="593725"/>
            <a:ext cx="12700" cy="5101134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4"/>
          <p:cNvSpPr/>
          <p:nvPr/>
        </p:nvSpPr>
        <p:spPr>
          <a:xfrm>
            <a:off x="9333374" y="2287687"/>
            <a:ext cx="2807523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5"/>
          <p:cNvSpPr/>
          <p:nvPr/>
        </p:nvSpPr>
        <p:spPr>
          <a:xfrm>
            <a:off x="9333374" y="3988098"/>
            <a:ext cx="2807523" cy="12700"/>
          </a:xfrm>
          <a:prstGeom prst="rect">
            <a:avLst/>
          </a:prstGeom>
          <a:solidFill>
            <a:srgbClr val="2E6D3F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Microsoft Office PowerPoint</Application>
  <PresentationFormat>Widescreen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IBM Plex Mono</vt:lpstr>
      <vt:lpstr>IBM Plex Mono SemiBold</vt:lpstr>
      <vt:lpstr>Arial</vt:lpstr>
      <vt:lpstr>IBM Plex Mono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Mithun</dc:creator>
  <cp:lastModifiedBy>M.Mithun Madhuban</cp:lastModifiedBy>
  <cp:revision>1</cp:revision>
  <dcterms:created xsi:type="dcterms:W3CDTF">2026-10-05T14:39:59Z</dcterms:created>
  <dcterms:modified xsi:type="dcterms:W3CDTF">2026-10-05T14:45:41Z</dcterms:modified>
</cp:coreProperties>
</file>